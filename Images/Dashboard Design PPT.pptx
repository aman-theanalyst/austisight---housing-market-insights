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9C"/>
    <a:srgbClr val="F9B1C4"/>
    <a:srgbClr val="E01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94610" autoAdjust="0"/>
  </p:normalViewPr>
  <p:slideViewPr>
    <p:cSldViewPr snapToGrid="0">
      <p:cViewPr varScale="1">
        <p:scale>
          <a:sx n="66" d="100"/>
          <a:sy n="66" d="100"/>
        </p:scale>
        <p:origin x="66" y="12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7479-484C-74D4-F409-B2835B341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B520A-F343-67EF-F5ED-BF962E036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3517C-E3F8-7BF0-4DA8-F9BE8635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CBE4-3C00-4F11-3833-885088C9D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772A9-1575-2639-5005-EB163741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91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FC0A-D193-60D7-7EDF-3D3E9AEB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451B6-867F-D46E-26D3-4684832A2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CDED3-388F-AF7F-CDF4-DFB0D477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14D5-111E-5149-3330-7F6928A5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87799-D311-E465-3834-BC8EFF42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99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C6A3-A7D8-B396-36CB-D0D75E56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C9466-7559-543D-0214-03C26C3DE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7644D-CDE2-7253-0CC9-2D8E0538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CD4D2-9110-FC66-2F5A-A3AAE14C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5171A-EDEE-F892-8697-38FCB20B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57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A7EA-BBA4-0CF2-B496-8A19CDDA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0DEC8-C917-F0B9-E8DB-6423FF5EC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BED5D-26C8-7428-6B3A-6F6E59084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1BDAF-A142-5117-8194-CC6F6991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82FEB-8C34-454B-6653-04405303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1EDE4-6EA0-F10A-807D-6A3F18A9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628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6A6F-FEA7-B080-9CB8-16BD03DC1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FBC5C-C6C9-E637-E849-80B52E659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9821B-AD2E-B183-A742-C65954A5C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B7FA0-BD9A-1822-FD34-893867C77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B9726-93D3-C3FF-B48B-2DC16D281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00663-A41D-0B48-0157-1C3106438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89752-F068-6FB5-81AA-AB082659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FFFF6-F41B-E343-42A1-F3E381E5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777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E3B9-D6F8-3D30-BA47-AECD400E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26467-98F5-60CA-DF96-99E2D35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E310-1824-F143-EB77-F8C4E9BA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419F7-4BB7-6B2A-3ECB-711ABF47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050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9282F9-DF76-3A85-747B-845AA7AE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60930-E1F4-0411-562D-BADEE80F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02297-7C71-5534-7E91-ED5AA810B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63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83A0E-A3DF-D3EB-DFBE-46C688BB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D0B92-734C-7A01-AEF6-ECC4AC52C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0E8C2-D749-D4CF-A2CC-66DF4A918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89BF-CA99-5000-2F3C-CA9043AA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E8603-48E1-A177-10B6-A7056C4F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CA232-32FB-23B6-4B6C-C65FA1CB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7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AEE6-24F0-667D-A51E-C62117408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59CDC-E757-AC38-01D6-C7480BD18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770BE-D53C-7455-B46D-405341496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0C4FC-D420-06C9-8556-72E1FB84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92AC1-E442-A3B5-9A00-8F4D9393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53DFA-8C88-5395-FAC9-35B75ECF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13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78AE-722A-8DAC-D5B8-438B86F9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6B2D8-CDB0-EAE8-EA39-A50476538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421E-AA37-292B-CB12-A94BCAB0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E5592-EA1E-0609-9531-429ABC94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8E04C-080B-EE3B-1027-743F581D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48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48BE7-39C8-7343-7E79-7494CAFA2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4275E-BF9F-1748-1170-5578D6B85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E1AB2-672B-A737-E263-79A68B26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1CCC1-12F9-2E98-1E31-D038C4E0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D565C-7FAF-F44B-0382-FAD1003B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31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57E62-F2DD-C352-EAD9-4D87B5A5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9DF3C-EF02-F988-3AB8-34A047D93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74716-9B9E-9334-5B32-CDAEFE95A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F3345-B62D-4ECE-950A-AD3B33B7DE2E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42180-251F-9E50-7FFE-17A64AFB1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E8F87-0DA3-799E-C46C-ECA91E06C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BCE29-1F4F-4191-9B10-EB85AAA65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4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21" Type="http://schemas.openxmlformats.org/officeDocument/2006/relationships/image" Target="../media/image24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5" Type="http://schemas.openxmlformats.org/officeDocument/2006/relationships/image" Target="../media/image28.sv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24" Type="http://schemas.openxmlformats.org/officeDocument/2006/relationships/image" Target="../media/image27.pn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23" Type="http://schemas.openxmlformats.org/officeDocument/2006/relationships/image" Target="../media/image26.sv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15A9C6-07DF-5B1D-3F82-AC2FC2A48A6C}"/>
              </a:ext>
            </a:extLst>
          </p:cNvPr>
          <p:cNvSpPr txBox="1"/>
          <p:nvPr/>
        </p:nvSpPr>
        <p:spPr>
          <a:xfrm>
            <a:off x="290285" y="138668"/>
            <a:ext cx="3788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Color Palette</a:t>
            </a:r>
            <a:endParaRPr lang="en-IN" sz="2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CE8255-1BD3-C4A0-05F6-CB0C96DBEED6}"/>
              </a:ext>
            </a:extLst>
          </p:cNvPr>
          <p:cNvSpPr/>
          <p:nvPr/>
        </p:nvSpPr>
        <p:spPr>
          <a:xfrm>
            <a:off x="1669143" y="1625600"/>
            <a:ext cx="2409370" cy="1146629"/>
          </a:xfrm>
          <a:prstGeom prst="roundRect">
            <a:avLst/>
          </a:prstGeom>
          <a:solidFill>
            <a:srgbClr val="E014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A9C288-29DA-D953-C856-BC2881EC8FED}"/>
              </a:ext>
            </a:extLst>
          </p:cNvPr>
          <p:cNvSpPr/>
          <p:nvPr/>
        </p:nvSpPr>
        <p:spPr>
          <a:xfrm>
            <a:off x="1669143" y="3360057"/>
            <a:ext cx="2409370" cy="1146629"/>
          </a:xfrm>
          <a:prstGeom prst="roundRect">
            <a:avLst/>
          </a:prstGeom>
          <a:solidFill>
            <a:srgbClr val="0052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7E3384-BAF2-C7FF-A7A3-1A81E87AC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115" y="865417"/>
            <a:ext cx="6446127" cy="430816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8354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B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3515C00-6D7C-EAC8-C7B7-B210E5514400}"/>
              </a:ext>
            </a:extLst>
          </p:cNvPr>
          <p:cNvSpPr/>
          <p:nvPr/>
        </p:nvSpPr>
        <p:spPr>
          <a:xfrm flipV="1">
            <a:off x="-135793" y="-140678"/>
            <a:ext cx="12780107" cy="1066193"/>
          </a:xfrm>
          <a:custGeom>
            <a:avLst/>
            <a:gdLst>
              <a:gd name="csX0" fmla="*/ 0 w 12192000"/>
              <a:gd name="csY0" fmla="*/ 1009650 h 1009650"/>
              <a:gd name="csX1" fmla="*/ 2171700 w 12192000"/>
              <a:gd name="csY1" fmla="*/ 1009650 h 1009650"/>
              <a:gd name="csX2" fmla="*/ 3257550 w 12192000"/>
              <a:gd name="csY2" fmla="*/ 1009650 h 1009650"/>
              <a:gd name="csX3" fmla="*/ 12192000 w 12192000"/>
              <a:gd name="csY3" fmla="*/ 1009650 h 1009650"/>
              <a:gd name="csX4" fmla="*/ 12192000 w 12192000"/>
              <a:gd name="csY4" fmla="*/ 514350 h 1009650"/>
              <a:gd name="csX5" fmla="*/ 3257550 w 12192000"/>
              <a:gd name="csY5" fmla="*/ 514350 h 1009650"/>
              <a:gd name="csX6" fmla="*/ 3257550 w 12192000"/>
              <a:gd name="csY6" fmla="*/ 504825 h 1009650"/>
              <a:gd name="csX7" fmla="*/ 2752725 w 12192000"/>
              <a:gd name="csY7" fmla="*/ 0 h 1009650"/>
              <a:gd name="csX8" fmla="*/ 0 w 12192000"/>
              <a:gd name="csY8" fmla="*/ 0 h 1009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2000" h="1009650">
                <a:moveTo>
                  <a:pt x="0" y="1009650"/>
                </a:moveTo>
                <a:lnTo>
                  <a:pt x="2171700" y="1009650"/>
                </a:lnTo>
                <a:lnTo>
                  <a:pt x="3257550" y="1009650"/>
                </a:lnTo>
                <a:lnTo>
                  <a:pt x="12192000" y="1009650"/>
                </a:lnTo>
                <a:lnTo>
                  <a:pt x="12192000" y="514350"/>
                </a:lnTo>
                <a:lnTo>
                  <a:pt x="3257550" y="514350"/>
                </a:lnTo>
                <a:lnTo>
                  <a:pt x="3257550" y="504825"/>
                </a:lnTo>
                <a:lnTo>
                  <a:pt x="2752725" y="0"/>
                </a:lnTo>
                <a:lnTo>
                  <a:pt x="0" y="0"/>
                </a:lnTo>
                <a:close/>
              </a:path>
            </a:pathLst>
          </a:custGeom>
          <a:ln w="15875">
            <a:gradFill flip="none" rotWithShape="1">
              <a:gsLst>
                <a:gs pos="19000">
                  <a:schemeClr val="accent1">
                    <a:lumMod val="60000"/>
                    <a:lumOff val="40000"/>
                  </a:schemeClr>
                </a:gs>
                <a:gs pos="10000">
                  <a:srgbClr val="00529C"/>
                </a:gs>
                <a:gs pos="60000">
                  <a:schemeClr val="accent6">
                    <a:lumMod val="60000"/>
                    <a:lumOff val="40000"/>
                  </a:schemeClr>
                </a:gs>
                <a:gs pos="84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765FC-4E82-EECB-8B50-8447A097E413}"/>
              </a:ext>
            </a:extLst>
          </p:cNvPr>
          <p:cNvSpPr txBox="1"/>
          <p:nvPr/>
        </p:nvSpPr>
        <p:spPr>
          <a:xfrm>
            <a:off x="624114" y="92333"/>
            <a:ext cx="26996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spc="500" dirty="0">
                <a:solidFill>
                  <a:schemeClr val="accent1"/>
                </a:solidFill>
                <a:latin typeface="Trade gothic inline" panose="020F0502020204030204" pitchFamily="34" charset="0"/>
                <a:ea typeface="Segoe UI Black" panose="020B0A02040204020203" pitchFamily="34" charset="0"/>
              </a:rPr>
              <a:t>Austi</a:t>
            </a:r>
            <a:r>
              <a:rPr lang="en-IN" sz="2400" b="1" spc="500" dirty="0">
                <a:solidFill>
                  <a:schemeClr val="accent6"/>
                </a:solidFill>
                <a:latin typeface="Trade gothic inline" panose="020F0502020204030204" pitchFamily="34" charset="0"/>
                <a:ea typeface="Segoe UI Black" panose="020B0A02040204020203" pitchFamily="34" charset="0"/>
              </a:rPr>
              <a:t>Sight</a:t>
            </a:r>
          </a:p>
          <a:p>
            <a:r>
              <a:rPr lang="en-IN" sz="1600" dirty="0">
                <a:gradFill>
                  <a:gsLst>
                    <a:gs pos="30000">
                      <a:schemeClr val="accent1"/>
                    </a:gs>
                    <a:gs pos="70000">
                      <a:schemeClr val="accent6"/>
                    </a:gs>
                  </a:gsLst>
                  <a:path path="circle">
                    <a:fillToRect r="100000" b="100000"/>
                  </a:path>
                </a:gra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Housing Market Insights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E4856C-373B-9105-D34A-EAC58D57AC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61924"/>
            <a:ext cx="538389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161B3F-6F5D-79C3-76F5-582766B407A2}"/>
              </a:ext>
            </a:extLst>
          </p:cNvPr>
          <p:cNvSpPr txBox="1"/>
          <p:nvPr/>
        </p:nvSpPr>
        <p:spPr>
          <a:xfrm>
            <a:off x="9768114" y="-7353"/>
            <a:ext cx="2423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600" dirty="0">
                <a:gradFill>
                  <a:gsLst>
                    <a:gs pos="30000">
                      <a:schemeClr val="accent1"/>
                    </a:gs>
                    <a:gs pos="70000">
                      <a:schemeClr val="accent6"/>
                    </a:gs>
                  </a:gsLst>
                  <a:path path="circle">
                    <a:fillToRect r="100000" b="100000"/>
                  </a:path>
                </a:gra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Designed By Aman Singh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2374A7-25F1-AA18-8F16-01AF344ACB0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846" y="42666"/>
            <a:ext cx="288535" cy="2885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0326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B1C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1230F0-4D06-2597-6DE1-703D726D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5FBE8F3-3081-A8AF-F1BD-2E40282F74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55"/>
            <a:ext cx="7082971" cy="68653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013113-DB18-B9DF-2A04-B0070D86F2B7}"/>
              </a:ext>
            </a:extLst>
          </p:cNvPr>
          <p:cNvSpPr/>
          <p:nvPr/>
        </p:nvSpPr>
        <p:spPr>
          <a:xfrm>
            <a:off x="892629" y="-140678"/>
            <a:ext cx="5297714" cy="7441364"/>
          </a:xfrm>
          <a:prstGeom prst="roundRect">
            <a:avLst>
              <a:gd name="adj" fmla="val 1599"/>
            </a:avLst>
          </a:prstGeom>
          <a:solidFill>
            <a:schemeClr val="accent1">
              <a:lumMod val="75000"/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2000" tIns="108000" rIns="216000" bIns="108000" rtlCol="0" anchor="ctr"/>
          <a:lstStyle/>
          <a:p>
            <a:endParaRPr lang="en-US" sz="2800" b="1" dirty="0"/>
          </a:p>
          <a:p>
            <a:r>
              <a:rPr lang="en-US" sz="2800" b="1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Welcome to the AUSTISIGHT Housing Market Insights Tool</a:t>
            </a:r>
          </a:p>
          <a:p>
            <a:endParaRPr lang="en-US" sz="2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just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This tool provides a clear, data-driven view of the Austin housing market. It brings together pricing, location, schools, and property features to support quick understanding and decision-making.</a:t>
            </a:r>
          </a:p>
          <a:p>
            <a:pPr algn="just"/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just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Use the navigation buttons to explore interactive views and uncover insights .</a:t>
            </a:r>
            <a:endParaRPr lang="en-IN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just"/>
            <a:endParaRPr lang="en-IN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just"/>
            <a:r>
              <a:rPr lang="en-IN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Have Fun Exploring!!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B9B0FFF-C18A-B950-89DB-4B1F97317B37}"/>
              </a:ext>
            </a:extLst>
          </p:cNvPr>
          <p:cNvSpPr/>
          <p:nvPr/>
        </p:nvSpPr>
        <p:spPr>
          <a:xfrm flipV="1">
            <a:off x="-135793" y="-140678"/>
            <a:ext cx="12780107" cy="1066193"/>
          </a:xfrm>
          <a:custGeom>
            <a:avLst/>
            <a:gdLst>
              <a:gd name="csX0" fmla="*/ 0 w 12192000"/>
              <a:gd name="csY0" fmla="*/ 1009650 h 1009650"/>
              <a:gd name="csX1" fmla="*/ 2171700 w 12192000"/>
              <a:gd name="csY1" fmla="*/ 1009650 h 1009650"/>
              <a:gd name="csX2" fmla="*/ 3257550 w 12192000"/>
              <a:gd name="csY2" fmla="*/ 1009650 h 1009650"/>
              <a:gd name="csX3" fmla="*/ 12192000 w 12192000"/>
              <a:gd name="csY3" fmla="*/ 1009650 h 1009650"/>
              <a:gd name="csX4" fmla="*/ 12192000 w 12192000"/>
              <a:gd name="csY4" fmla="*/ 514350 h 1009650"/>
              <a:gd name="csX5" fmla="*/ 3257550 w 12192000"/>
              <a:gd name="csY5" fmla="*/ 514350 h 1009650"/>
              <a:gd name="csX6" fmla="*/ 3257550 w 12192000"/>
              <a:gd name="csY6" fmla="*/ 504825 h 1009650"/>
              <a:gd name="csX7" fmla="*/ 2752725 w 12192000"/>
              <a:gd name="csY7" fmla="*/ 0 h 1009650"/>
              <a:gd name="csX8" fmla="*/ 0 w 12192000"/>
              <a:gd name="csY8" fmla="*/ 0 h 1009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2000" h="1009650">
                <a:moveTo>
                  <a:pt x="0" y="1009650"/>
                </a:moveTo>
                <a:lnTo>
                  <a:pt x="2171700" y="1009650"/>
                </a:lnTo>
                <a:lnTo>
                  <a:pt x="3257550" y="1009650"/>
                </a:lnTo>
                <a:lnTo>
                  <a:pt x="12192000" y="1009650"/>
                </a:lnTo>
                <a:lnTo>
                  <a:pt x="12192000" y="514350"/>
                </a:lnTo>
                <a:lnTo>
                  <a:pt x="3257550" y="514350"/>
                </a:lnTo>
                <a:lnTo>
                  <a:pt x="3257550" y="504825"/>
                </a:lnTo>
                <a:lnTo>
                  <a:pt x="2752725" y="0"/>
                </a:lnTo>
                <a:lnTo>
                  <a:pt x="0" y="0"/>
                </a:lnTo>
                <a:close/>
              </a:path>
            </a:pathLst>
          </a:custGeom>
          <a:ln w="15875">
            <a:gradFill flip="none" rotWithShape="1">
              <a:gsLst>
                <a:gs pos="19000">
                  <a:schemeClr val="accent1">
                    <a:lumMod val="60000"/>
                    <a:lumOff val="40000"/>
                  </a:schemeClr>
                </a:gs>
                <a:gs pos="10000">
                  <a:srgbClr val="00529C"/>
                </a:gs>
                <a:gs pos="60000">
                  <a:schemeClr val="accent6">
                    <a:lumMod val="60000"/>
                    <a:lumOff val="40000"/>
                  </a:schemeClr>
                </a:gs>
                <a:gs pos="84000">
                  <a:schemeClr val="accent6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794E9-C642-CEB0-582B-73C6B4FFAE9E}"/>
              </a:ext>
            </a:extLst>
          </p:cNvPr>
          <p:cNvSpPr txBox="1"/>
          <p:nvPr/>
        </p:nvSpPr>
        <p:spPr>
          <a:xfrm>
            <a:off x="624114" y="92333"/>
            <a:ext cx="26996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spc="500" dirty="0">
                <a:solidFill>
                  <a:schemeClr val="accent1"/>
                </a:solidFill>
                <a:latin typeface="Trade gothic inline" panose="020F0502020204030204" pitchFamily="34" charset="0"/>
                <a:ea typeface="Segoe UI Black" panose="020B0A02040204020203" pitchFamily="34" charset="0"/>
              </a:rPr>
              <a:t>Austi</a:t>
            </a:r>
            <a:r>
              <a:rPr lang="en-IN" sz="2400" b="1" spc="500" dirty="0">
                <a:solidFill>
                  <a:schemeClr val="accent6"/>
                </a:solidFill>
                <a:latin typeface="Trade gothic inline" panose="020F0502020204030204" pitchFamily="34" charset="0"/>
                <a:ea typeface="Segoe UI Black" panose="020B0A02040204020203" pitchFamily="34" charset="0"/>
              </a:rPr>
              <a:t>Sight</a:t>
            </a:r>
          </a:p>
          <a:p>
            <a:r>
              <a:rPr lang="en-IN" sz="1600" dirty="0">
                <a:gradFill>
                  <a:gsLst>
                    <a:gs pos="30000">
                      <a:schemeClr val="accent1"/>
                    </a:gs>
                    <a:gs pos="70000">
                      <a:schemeClr val="accent6"/>
                    </a:gs>
                  </a:gsLst>
                  <a:path path="circle">
                    <a:fillToRect r="100000" b="100000"/>
                  </a:path>
                </a:gra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Housing Market Insights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BC7B4C-3D83-6227-183B-EF06A55AC8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61924"/>
            <a:ext cx="538389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D9D945-4550-F779-BB93-C06C5F99CD11}"/>
              </a:ext>
            </a:extLst>
          </p:cNvPr>
          <p:cNvSpPr txBox="1"/>
          <p:nvPr/>
        </p:nvSpPr>
        <p:spPr>
          <a:xfrm>
            <a:off x="9768114" y="-7353"/>
            <a:ext cx="2423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600" dirty="0">
                <a:gradFill>
                  <a:gsLst>
                    <a:gs pos="30000">
                      <a:schemeClr val="accent1"/>
                    </a:gs>
                    <a:gs pos="70000">
                      <a:schemeClr val="accent6"/>
                    </a:gs>
                  </a:gsLst>
                  <a:path path="circle">
                    <a:fillToRect r="100000" b="100000"/>
                  </a:path>
                </a:gra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Designed By Aman Singh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5DD44-00F3-7F73-AB6A-8378C4CE026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846" y="42666"/>
            <a:ext cx="288535" cy="288535"/>
          </a:xfrm>
          <a:prstGeom prst="rect">
            <a:avLst/>
          </a:prstGeom>
          <a:noFill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6F481FD-6AA5-0CCA-D887-A0DDCE67334E}"/>
              </a:ext>
            </a:extLst>
          </p:cNvPr>
          <p:cNvSpPr/>
          <p:nvPr/>
        </p:nvSpPr>
        <p:spPr>
          <a:xfrm>
            <a:off x="7082971" y="392417"/>
            <a:ext cx="45719" cy="65989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7263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464117-0F77-74F8-262C-AC28AF19B606}"/>
              </a:ext>
            </a:extLst>
          </p:cNvPr>
          <p:cNvSpPr/>
          <p:nvPr/>
        </p:nvSpPr>
        <p:spPr>
          <a:xfrm>
            <a:off x="2307771" y="1190171"/>
            <a:ext cx="1335315" cy="7837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F0B81C-8CA3-F3B8-0520-33DDF332DD35}"/>
              </a:ext>
            </a:extLst>
          </p:cNvPr>
          <p:cNvSpPr/>
          <p:nvPr/>
        </p:nvSpPr>
        <p:spPr>
          <a:xfrm>
            <a:off x="3947886" y="1190171"/>
            <a:ext cx="1335315" cy="7837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1CBB9-2307-52DC-700C-783DD37C2042}"/>
              </a:ext>
            </a:extLst>
          </p:cNvPr>
          <p:cNvSpPr/>
          <p:nvPr/>
        </p:nvSpPr>
        <p:spPr>
          <a:xfrm>
            <a:off x="3947886" y="2264229"/>
            <a:ext cx="1335315" cy="7837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CA4789-0936-7532-A511-5418A07951EB}"/>
              </a:ext>
            </a:extLst>
          </p:cNvPr>
          <p:cNvSpPr/>
          <p:nvPr/>
        </p:nvSpPr>
        <p:spPr>
          <a:xfrm>
            <a:off x="2307770" y="2264229"/>
            <a:ext cx="1335315" cy="783772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316AB-19DC-9809-5C77-D1BF666F5816}"/>
              </a:ext>
            </a:extLst>
          </p:cNvPr>
          <p:cNvSpPr/>
          <p:nvPr/>
        </p:nvSpPr>
        <p:spPr>
          <a:xfrm>
            <a:off x="5646059" y="1190171"/>
            <a:ext cx="1335315" cy="783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DBFC23-F19D-41AC-13A4-FAE45458AFA7}"/>
              </a:ext>
            </a:extLst>
          </p:cNvPr>
          <p:cNvSpPr/>
          <p:nvPr/>
        </p:nvSpPr>
        <p:spPr>
          <a:xfrm>
            <a:off x="5646060" y="2264229"/>
            <a:ext cx="1335315" cy="78377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F824B-DD0C-3301-CCEC-D6335368724B}"/>
              </a:ext>
            </a:extLst>
          </p:cNvPr>
          <p:cNvSpPr/>
          <p:nvPr/>
        </p:nvSpPr>
        <p:spPr>
          <a:xfrm>
            <a:off x="7460343" y="2264229"/>
            <a:ext cx="1335315" cy="78377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5B8C6C-7129-C861-0D59-614015B8BB03}"/>
              </a:ext>
            </a:extLst>
          </p:cNvPr>
          <p:cNvSpPr/>
          <p:nvPr/>
        </p:nvSpPr>
        <p:spPr>
          <a:xfrm>
            <a:off x="7460343" y="1190171"/>
            <a:ext cx="1335315" cy="7837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7E261-439A-E0CD-7DB6-312222543463}"/>
              </a:ext>
            </a:extLst>
          </p:cNvPr>
          <p:cNvSpPr/>
          <p:nvPr/>
        </p:nvSpPr>
        <p:spPr>
          <a:xfrm>
            <a:off x="2307771" y="3418114"/>
            <a:ext cx="1335315" cy="7837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C07AD-DF12-AA7F-58AF-DB206AB35AE2}"/>
              </a:ext>
            </a:extLst>
          </p:cNvPr>
          <p:cNvSpPr/>
          <p:nvPr/>
        </p:nvSpPr>
        <p:spPr>
          <a:xfrm>
            <a:off x="3947886" y="3418114"/>
            <a:ext cx="1335315" cy="78377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7C7156-26D5-7E4E-33CC-13195E6812F1}"/>
              </a:ext>
            </a:extLst>
          </p:cNvPr>
          <p:cNvSpPr txBox="1"/>
          <p:nvPr/>
        </p:nvSpPr>
        <p:spPr>
          <a:xfrm>
            <a:off x="2307770" y="261257"/>
            <a:ext cx="6487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Color Theme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862921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Graduation cap with solid fill">
            <a:extLst>
              <a:ext uri="{FF2B5EF4-FFF2-40B4-BE49-F238E27FC236}">
                <a16:creationId xmlns:a16="http://schemas.microsoft.com/office/drawing/2014/main" id="{1A0D00E1-1064-E89F-E22A-B8BAAE0ED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3853" y="3056320"/>
            <a:ext cx="914400" cy="914400"/>
          </a:xfrm>
          <a:prstGeom prst="rect">
            <a:avLst/>
          </a:prstGeom>
        </p:spPr>
      </p:pic>
      <p:pic>
        <p:nvPicPr>
          <p:cNvPr id="13" name="Graphic 12" descr="List with solid fill">
            <a:extLst>
              <a:ext uri="{FF2B5EF4-FFF2-40B4-BE49-F238E27FC236}">
                <a16:creationId xmlns:a16="http://schemas.microsoft.com/office/drawing/2014/main" id="{F2C4684C-0516-1CDD-B04B-E10B3809E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3853" y="3980542"/>
            <a:ext cx="914400" cy="914400"/>
          </a:xfrm>
          <a:prstGeom prst="rect">
            <a:avLst/>
          </a:prstGeom>
        </p:spPr>
      </p:pic>
      <p:pic>
        <p:nvPicPr>
          <p:cNvPr id="15" name="Graphic 14" descr="Magnifying glass with solid fill">
            <a:extLst>
              <a:ext uri="{FF2B5EF4-FFF2-40B4-BE49-F238E27FC236}">
                <a16:creationId xmlns:a16="http://schemas.microsoft.com/office/drawing/2014/main" id="{6AB3E5A6-D00F-79BD-2385-6F9707556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3853" y="1160360"/>
            <a:ext cx="774661" cy="774661"/>
          </a:xfrm>
          <a:prstGeom prst="rect">
            <a:avLst/>
          </a:prstGeom>
        </p:spPr>
      </p:pic>
      <p:pic>
        <p:nvPicPr>
          <p:cNvPr id="17" name="Graphic 16" descr="Marker with solid fill">
            <a:extLst>
              <a:ext uri="{FF2B5EF4-FFF2-40B4-BE49-F238E27FC236}">
                <a16:creationId xmlns:a16="http://schemas.microsoft.com/office/drawing/2014/main" id="{173A2379-7614-969B-C47F-411959544A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3853" y="2169866"/>
            <a:ext cx="914400" cy="914400"/>
          </a:xfrm>
          <a:prstGeom prst="rect">
            <a:avLst/>
          </a:prstGeom>
        </p:spPr>
      </p:pic>
      <p:pic>
        <p:nvPicPr>
          <p:cNvPr id="2" name="Graphic 1" descr="Graduation cap with solid fill">
            <a:extLst>
              <a:ext uri="{FF2B5EF4-FFF2-40B4-BE49-F238E27FC236}">
                <a16:creationId xmlns:a16="http://schemas.microsoft.com/office/drawing/2014/main" id="{6FD16F70-F89B-592A-A0E0-DE6DAE950B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79806" y="3092305"/>
            <a:ext cx="914400" cy="914400"/>
          </a:xfrm>
          <a:prstGeom prst="rect">
            <a:avLst/>
          </a:prstGeom>
        </p:spPr>
      </p:pic>
      <p:pic>
        <p:nvPicPr>
          <p:cNvPr id="6" name="Graphic 5" descr="List with solid fill">
            <a:extLst>
              <a:ext uri="{FF2B5EF4-FFF2-40B4-BE49-F238E27FC236}">
                <a16:creationId xmlns:a16="http://schemas.microsoft.com/office/drawing/2014/main" id="{C526CD9B-E633-ED55-E959-991B02565E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61524" y="4006705"/>
            <a:ext cx="914400" cy="914400"/>
          </a:xfrm>
          <a:prstGeom prst="rect">
            <a:avLst/>
          </a:prstGeom>
        </p:spPr>
      </p:pic>
      <p:pic>
        <p:nvPicPr>
          <p:cNvPr id="4" name="Graphic 3" descr="Magnifying glass with solid fill">
            <a:extLst>
              <a:ext uri="{FF2B5EF4-FFF2-40B4-BE49-F238E27FC236}">
                <a16:creationId xmlns:a16="http://schemas.microsoft.com/office/drawing/2014/main" id="{E87353E8-3F1B-A92E-8FF5-DFBC45DE2C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31393" y="1160359"/>
            <a:ext cx="774661" cy="774661"/>
          </a:xfrm>
          <a:prstGeom prst="rect">
            <a:avLst/>
          </a:prstGeom>
        </p:spPr>
      </p:pic>
      <p:pic>
        <p:nvPicPr>
          <p:cNvPr id="8" name="Graphic 7" descr="Marker with solid fill">
            <a:extLst>
              <a:ext uri="{FF2B5EF4-FFF2-40B4-BE49-F238E27FC236}">
                <a16:creationId xmlns:a16="http://schemas.microsoft.com/office/drawing/2014/main" id="{A5EC5F10-E1C4-213A-D99B-556822A1DC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98088" y="2177905"/>
            <a:ext cx="914400" cy="914400"/>
          </a:xfrm>
          <a:prstGeom prst="rect">
            <a:avLst/>
          </a:prstGeom>
        </p:spPr>
      </p:pic>
      <p:pic>
        <p:nvPicPr>
          <p:cNvPr id="10" name="Graphic 9" descr="Graduation cap with solid fill">
            <a:extLst>
              <a:ext uri="{FF2B5EF4-FFF2-40B4-BE49-F238E27FC236}">
                <a16:creationId xmlns:a16="http://schemas.microsoft.com/office/drawing/2014/main" id="{37D12E58-F6C9-E634-11B5-B026AABBAA0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83649" y="3092305"/>
            <a:ext cx="914400" cy="914400"/>
          </a:xfrm>
          <a:prstGeom prst="rect">
            <a:avLst/>
          </a:prstGeom>
        </p:spPr>
      </p:pic>
      <p:pic>
        <p:nvPicPr>
          <p:cNvPr id="12" name="Graphic 11" descr="List with solid fill">
            <a:extLst>
              <a:ext uri="{FF2B5EF4-FFF2-40B4-BE49-F238E27FC236}">
                <a16:creationId xmlns:a16="http://schemas.microsoft.com/office/drawing/2014/main" id="{D076A37A-35C4-58EE-451D-BA7BA5F0861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65367" y="4006705"/>
            <a:ext cx="914400" cy="914400"/>
          </a:xfrm>
          <a:prstGeom prst="rect">
            <a:avLst/>
          </a:prstGeom>
        </p:spPr>
      </p:pic>
      <p:pic>
        <p:nvPicPr>
          <p:cNvPr id="14" name="Graphic 13" descr="Magnifying glass with solid fill">
            <a:extLst>
              <a:ext uri="{FF2B5EF4-FFF2-40B4-BE49-F238E27FC236}">
                <a16:creationId xmlns:a16="http://schemas.microsoft.com/office/drawing/2014/main" id="{D9980279-572B-FC0D-78CA-99C36783010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35236" y="1160359"/>
            <a:ext cx="774661" cy="774661"/>
          </a:xfrm>
          <a:prstGeom prst="rect">
            <a:avLst/>
          </a:prstGeom>
        </p:spPr>
      </p:pic>
      <p:pic>
        <p:nvPicPr>
          <p:cNvPr id="16" name="Graphic 15" descr="Marker with solid fill">
            <a:extLst>
              <a:ext uri="{FF2B5EF4-FFF2-40B4-BE49-F238E27FC236}">
                <a16:creationId xmlns:a16="http://schemas.microsoft.com/office/drawing/2014/main" id="{0E40EBE6-A38D-ECF4-AD2C-EE37BAF2CDD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01931" y="21779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66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529C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E0144C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</TotalTime>
  <Words>77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Segoe UI Light</vt:lpstr>
      <vt:lpstr>Trade gothic inline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Negi</dc:creator>
  <cp:lastModifiedBy>Aman Negi</cp:lastModifiedBy>
  <cp:revision>9</cp:revision>
  <dcterms:created xsi:type="dcterms:W3CDTF">2026-01-10T13:10:15Z</dcterms:created>
  <dcterms:modified xsi:type="dcterms:W3CDTF">2026-01-16T15:39:50Z</dcterms:modified>
</cp:coreProperties>
</file>